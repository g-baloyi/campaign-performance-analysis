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11"/>
  </p:notesMasterIdLst>
  <p:handoutMasterIdLst>
    <p:handoutMasterId r:id="rId12"/>
  </p:handoutMasterIdLst>
  <p:sldIdLst>
    <p:sldId id="343" r:id="rId5"/>
    <p:sldId id="338" r:id="rId6"/>
    <p:sldId id="344" r:id="rId7"/>
    <p:sldId id="341" r:id="rId8"/>
    <p:sldId id="342" r:id="rId9"/>
    <p:sldId id="340" r:id="rId10"/>
  </p:sldIdLst>
  <p:sldSz cx="12192000" cy="6858000"/>
  <p:notesSz cx="6950075" cy="9236075"/>
  <p:custShowLst>
    <p:custShow name="Format Guide Workshop" id="0">
      <p:sldLst/>
    </p:custShow>
  </p:custShowLst>
  <p:custDataLst>
    <p:tags r:id="rId1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1" autoAdjust="0"/>
    <p:restoredTop sz="96323" autoAdjust="0"/>
  </p:normalViewPr>
  <p:slideViewPr>
    <p:cSldViewPr snapToGrid="0">
      <p:cViewPr>
        <p:scale>
          <a:sx n="73" d="100"/>
          <a:sy n="73" d="100"/>
        </p:scale>
        <p:origin x="540" y="-120"/>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gs" Target="tags/tag1.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Downloads\Campaign_Data_Week1_new.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Downloads\Campaign_Data_Week1_new.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USER\Downloads\Campaign_Data_Week1_new.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[Campaign_Data_Week1_new.xlsx]Campaign+Channel!PivotTable4</c:name>
    <c:fmtId val="40"/>
  </c:pivotSource>
  <c:chart>
    <c:autoTitleDeleted val="1"/>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cked"/>
        <c:varyColors val="0"/>
        <c:ser>
          <c:idx val="0"/>
          <c:order val="0"/>
          <c:tx>
            <c:strRef>
              <c:f>'Campaign+Channel'!$B$3:$B$4</c:f>
              <c:strCache>
                <c:ptCount val="1"/>
                <c:pt idx="0">
                  <c:v>A</c:v>
                </c:pt>
              </c:strCache>
            </c:strRef>
          </c:tx>
          <c:spPr>
            <a:solidFill>
              <a:schemeClr val="accent1"/>
            </a:solidFill>
            <a:ln>
              <a:noFill/>
            </a:ln>
            <a:effectLst/>
            <a:sp3d/>
          </c:spPr>
          <c:invertIfNegative val="0"/>
          <c:cat>
            <c:strRef>
              <c:f>'Campaign+Channel'!$A$5:$A$8</c:f>
              <c:strCache>
                <c:ptCount val="3"/>
                <c:pt idx="0">
                  <c:v>Email</c:v>
                </c:pt>
                <c:pt idx="1">
                  <c:v>Instagram</c:v>
                </c:pt>
                <c:pt idx="2">
                  <c:v>Web Banner</c:v>
                </c:pt>
              </c:strCache>
            </c:strRef>
          </c:cat>
          <c:val>
            <c:numRef>
              <c:f>'Campaign+Channel'!$B$5:$B$8</c:f>
              <c:numCache>
                <c:formatCode>"$"#,##0.00</c:formatCode>
                <c:ptCount val="3"/>
                <c:pt idx="0">
                  <c:v>2124.4700000000003</c:v>
                </c:pt>
                <c:pt idx="1">
                  <c:v>969.46</c:v>
                </c:pt>
                <c:pt idx="2">
                  <c:v>633.06000000000006</c:v>
                </c:pt>
              </c:numCache>
            </c:numRef>
          </c:val>
          <c:extLst>
            <c:ext xmlns:c16="http://schemas.microsoft.com/office/drawing/2014/chart" uri="{C3380CC4-5D6E-409C-BE32-E72D297353CC}">
              <c16:uniqueId val="{00000000-C05B-43E6-BB9C-03E6C5817338}"/>
            </c:ext>
          </c:extLst>
        </c:ser>
        <c:ser>
          <c:idx val="1"/>
          <c:order val="1"/>
          <c:tx>
            <c:strRef>
              <c:f>'Campaign+Channel'!$C$3:$C$4</c:f>
              <c:strCache>
                <c:ptCount val="1"/>
                <c:pt idx="0">
                  <c:v>B</c:v>
                </c:pt>
              </c:strCache>
            </c:strRef>
          </c:tx>
          <c:spPr>
            <a:solidFill>
              <a:schemeClr val="accent2"/>
            </a:solidFill>
            <a:ln>
              <a:noFill/>
            </a:ln>
            <a:effectLst/>
            <a:sp3d/>
          </c:spPr>
          <c:invertIfNegative val="0"/>
          <c:cat>
            <c:strRef>
              <c:f>'Campaign+Channel'!$A$5:$A$8</c:f>
              <c:strCache>
                <c:ptCount val="3"/>
                <c:pt idx="0">
                  <c:v>Email</c:v>
                </c:pt>
                <c:pt idx="1">
                  <c:v>Instagram</c:v>
                </c:pt>
                <c:pt idx="2">
                  <c:v>Web Banner</c:v>
                </c:pt>
              </c:strCache>
            </c:strRef>
          </c:cat>
          <c:val>
            <c:numRef>
              <c:f>'Campaign+Channel'!$C$5:$C$8</c:f>
              <c:numCache>
                <c:formatCode>"$"#,##0.00</c:formatCode>
                <c:ptCount val="3"/>
                <c:pt idx="0">
                  <c:v>1382.3799999999999</c:v>
                </c:pt>
                <c:pt idx="1">
                  <c:v>416.14</c:v>
                </c:pt>
                <c:pt idx="2">
                  <c:v>318.92000000000007</c:v>
                </c:pt>
              </c:numCache>
            </c:numRef>
          </c:val>
          <c:extLst>
            <c:ext xmlns:c16="http://schemas.microsoft.com/office/drawing/2014/chart" uri="{C3380CC4-5D6E-409C-BE32-E72D297353CC}">
              <c16:uniqueId val="{00000001-C05B-43E6-BB9C-03E6C5817338}"/>
            </c:ext>
          </c:extLst>
        </c:ser>
        <c:dLbls>
          <c:showLegendKey val="0"/>
          <c:showVal val="0"/>
          <c:showCatName val="0"/>
          <c:showSerName val="0"/>
          <c:showPercent val="0"/>
          <c:showBubbleSize val="0"/>
        </c:dLbls>
        <c:gapWidth val="150"/>
        <c:shape val="box"/>
        <c:axId val="319951984"/>
        <c:axId val="319952464"/>
        <c:axId val="0"/>
      </c:bar3DChart>
      <c:catAx>
        <c:axId val="319951984"/>
        <c:scaling>
          <c:orientation val="minMax"/>
        </c:scaling>
        <c:delete val="0"/>
        <c:axPos val="b"/>
        <c:title>
          <c:tx>
            <c:rich>
              <a:bodyPr rot="-5400000" spcFirstLastPara="1" vertOverflow="ellipsis"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Marketing Channel</a:t>
                </a:r>
              </a:p>
            </c:rich>
          </c:tx>
          <c:layout>
            <c:manualLayout>
              <c:xMode val="edge"/>
              <c:yMode val="edge"/>
              <c:x val="0.47178189781799834"/>
              <c:y val="0.79609983425288922"/>
            </c:manualLayout>
          </c:layout>
          <c:overlay val="0"/>
          <c:spPr>
            <a:noFill/>
            <a:ln>
              <a:noFill/>
            </a:ln>
            <a:effectLst/>
          </c:spPr>
          <c:txPr>
            <a:bodyPr rot="-5400000" spcFirstLastPara="1" vertOverflow="ellipsis"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19952464"/>
        <c:crosses val="autoZero"/>
        <c:auto val="1"/>
        <c:lblAlgn val="ctr"/>
        <c:lblOffset val="100"/>
        <c:noMultiLvlLbl val="0"/>
      </c:catAx>
      <c:valAx>
        <c:axId val="31995246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Sales ($)</a:t>
                </a:r>
              </a:p>
            </c:rich>
          </c:tx>
          <c:overlay val="0"/>
          <c:spPr>
            <a:noFill/>
            <a:ln>
              <a:noFill/>
            </a:ln>
            <a:effectLst/>
          </c:spPr>
          <c:txPr>
            <a:bodyPr rot="0" spcFirstLastPara="1" vertOverflow="ellipsis"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1995198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[Campaign_Data_Week1_new.xlsx]Campaign+Channel!PivotTable4</c:name>
    <c:fmtId val="23"/>
  </c:pivotSource>
  <c:chart>
    <c:autoTitleDeleted val="1"/>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spc="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spc="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spc="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spc="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pivotFmt>
      <c:pivotFmt>
        <c:idx val="5"/>
        <c:spPr>
          <a:solidFill>
            <a:schemeClr val="accent1"/>
          </a:solidFill>
          <a:ln>
            <a:noFill/>
          </a:ln>
          <a:effectLst/>
          <a:sp3d/>
        </c:spPr>
      </c:pivotFmt>
      <c:pivotFmt>
        <c:idx val="6"/>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spc="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p3d/>
        </c:spPr>
      </c:pivotFmt>
      <c:pivotFmt>
        <c:idx val="8"/>
        <c:spPr>
          <a:solidFill>
            <a:schemeClr val="accent1"/>
          </a:solidFill>
          <a:ln>
            <a:noFill/>
          </a:ln>
          <a:effectLst/>
          <a:sp3d/>
        </c:spPr>
      </c:pivotFmt>
      <c:pivotFmt>
        <c:idx val="9"/>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spc="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a:sp3d/>
        </c:spPr>
      </c:pivotFmt>
      <c:pivotFmt>
        <c:idx val="11"/>
        <c:spPr>
          <a:solidFill>
            <a:schemeClr val="accent1"/>
          </a:solidFill>
          <a:ln>
            <a:noFill/>
          </a:ln>
          <a:effectLst/>
          <a:sp3d/>
        </c:spPr>
      </c:pivotFmt>
      <c:pivotFmt>
        <c:idx val="1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spc="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a:sp3d/>
        </c:spPr>
      </c:pivotFmt>
      <c:pivotFmt>
        <c:idx val="14"/>
        <c:spPr>
          <a:solidFill>
            <a:schemeClr val="accent1"/>
          </a:solidFill>
          <a:ln>
            <a:noFill/>
          </a:ln>
          <a:effectLst/>
          <a:sp3d/>
        </c:spPr>
      </c:pivotFmt>
      <c:pivotFmt>
        <c:idx val="15"/>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spc="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a:sp3d/>
        </c:spPr>
      </c:pivotFmt>
      <c:pivotFmt>
        <c:idx val="17"/>
        <c:spPr>
          <a:solidFill>
            <a:schemeClr val="accent1"/>
          </a:solidFill>
          <a:ln>
            <a:noFill/>
          </a:ln>
          <a:effectLst/>
          <a:sp3d/>
        </c:spPr>
      </c:pivotFmt>
      <c:pivotFmt>
        <c:idx val="18"/>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spc="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a:sp3d/>
        </c:spPr>
      </c:pivotFmt>
      <c:pivotFmt>
        <c:idx val="20"/>
        <c:spPr>
          <a:solidFill>
            <a:schemeClr val="accent1"/>
          </a:solidFill>
          <a:ln>
            <a:noFill/>
          </a:ln>
          <a:effectLst/>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1"/>
          <c:order val="0"/>
          <c:tx>
            <c:strRef>
              <c:f>'Campaign+Channel'!$B$3:$B$4</c:f>
              <c:strCache>
                <c:ptCount val="1"/>
                <c:pt idx="0">
                  <c:v>A</c:v>
                </c:pt>
              </c:strCache>
            </c:strRef>
          </c:tx>
          <c:dPt>
            <c:idx val="0"/>
            <c:bubble3D val="0"/>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6-886E-4AE6-A88B-FD1EB1C16C72}"/>
              </c:ext>
            </c:extLst>
          </c:dPt>
          <c:dPt>
            <c:idx val="1"/>
            <c:bubble3D val="0"/>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8-886E-4AE6-A88B-FD1EB1C16C72}"/>
              </c:ext>
            </c:extLst>
          </c:dPt>
          <c:dPt>
            <c:idx val="2"/>
            <c:bubble3D val="0"/>
            <c:spPr>
              <a:solidFill>
                <a:schemeClr val="accent3"/>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Pt>
          <c:dLbls>
            <c:dLbl>
              <c:idx val="0"/>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06-886E-4AE6-A88B-FD1EB1C16C72}"/>
                </c:ext>
              </c:extLst>
            </c:dLbl>
            <c:dLbl>
              <c:idx val="1"/>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2"/>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08-886E-4AE6-A88B-FD1EB1C16C72}"/>
                </c:ext>
              </c:extLst>
            </c:dLbl>
            <c:dLbl>
              <c:idx val="2"/>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3"/>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13-886E-4AE6-A88B-FD1EB1C16C72}"/>
                </c:ext>
              </c:extLst>
            </c:dLbl>
            <c:dLblPos val="outEnd"/>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'Campaign+Channel'!$A$5:$A$8</c:f>
              <c:strCache>
                <c:ptCount val="3"/>
                <c:pt idx="0">
                  <c:v>Email</c:v>
                </c:pt>
                <c:pt idx="1">
                  <c:v>Instagram</c:v>
                </c:pt>
                <c:pt idx="2">
                  <c:v>Web Banner</c:v>
                </c:pt>
              </c:strCache>
            </c:strRef>
          </c:cat>
          <c:val>
            <c:numRef>
              <c:f>'Campaign+Channel'!$B$5:$B$8</c:f>
              <c:numCache>
                <c:formatCode>"$"#,##0.00</c:formatCode>
                <c:ptCount val="3"/>
                <c:pt idx="0">
                  <c:v>2124.4700000000003</c:v>
                </c:pt>
                <c:pt idx="1">
                  <c:v>969.46</c:v>
                </c:pt>
                <c:pt idx="2">
                  <c:v>633.06000000000006</c:v>
                </c:pt>
              </c:numCache>
            </c:numRef>
          </c:val>
          <c:extLst>
            <c:ext xmlns:c16="http://schemas.microsoft.com/office/drawing/2014/chart" uri="{C3380CC4-5D6E-409C-BE32-E72D297353CC}">
              <c16:uniqueId val="{00000009-886E-4AE6-A88B-FD1EB1C16C72}"/>
            </c:ext>
          </c:extLst>
        </c:ser>
        <c:ser>
          <c:idx val="0"/>
          <c:order val="1"/>
          <c:tx>
            <c:strRef>
              <c:f>'Campaign+Channel'!$C$3:$C$4</c:f>
              <c:strCache>
                <c:ptCount val="1"/>
                <c:pt idx="0">
                  <c:v>B</c:v>
                </c:pt>
              </c:strCache>
            </c:strRef>
          </c:tx>
          <c:dPt>
            <c:idx val="0"/>
            <c:bubble3D val="0"/>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Pt>
          <c:dPt>
            <c:idx val="1"/>
            <c:bubble3D val="0"/>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Pt>
          <c:dPt>
            <c:idx val="2"/>
            <c:bubble3D val="0"/>
            <c:spPr>
              <a:solidFill>
                <a:schemeClr val="accent3"/>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dPt>
          <c:dLbls>
            <c:dLbl>
              <c:idx val="0"/>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14-886E-4AE6-A88B-FD1EB1C16C72}"/>
                </c:ext>
              </c:extLst>
            </c:dLbl>
            <c:dLbl>
              <c:idx val="1"/>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15-886E-4AE6-A88B-FD1EB1C16C72}"/>
                </c:ext>
              </c:extLst>
            </c:dLbl>
            <c:dLbl>
              <c:idx val="2"/>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3"/>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16-886E-4AE6-A88B-FD1EB1C16C72}"/>
                </c:ext>
              </c:extLst>
            </c:dLbl>
            <c:spPr>
              <a:noFill/>
              <a:ln>
                <a:noFill/>
              </a:ln>
              <a:effectLst/>
            </c:sp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'Campaign+Channel'!$A$5:$A$8</c:f>
              <c:strCache>
                <c:ptCount val="3"/>
                <c:pt idx="0">
                  <c:v>Email</c:v>
                </c:pt>
                <c:pt idx="1">
                  <c:v>Instagram</c:v>
                </c:pt>
                <c:pt idx="2">
                  <c:v>Web Banner</c:v>
                </c:pt>
              </c:strCache>
            </c:strRef>
          </c:cat>
          <c:val>
            <c:numRef>
              <c:f>'Campaign+Channel'!$C$5:$C$8</c:f>
              <c:numCache>
                <c:formatCode>"$"#,##0.00</c:formatCode>
                <c:ptCount val="3"/>
                <c:pt idx="0">
                  <c:v>1382.3799999999999</c:v>
                </c:pt>
                <c:pt idx="1">
                  <c:v>416.14</c:v>
                </c:pt>
                <c:pt idx="2">
                  <c:v>318.92000000000007</c:v>
                </c:pt>
              </c:numCache>
            </c:numRef>
          </c:val>
          <c:extLst>
            <c:ext xmlns:c16="http://schemas.microsoft.com/office/drawing/2014/chart" uri="{C3380CC4-5D6E-409C-BE32-E72D297353CC}">
              <c16:uniqueId val="{00000012-886E-4AE6-A88B-FD1EB1C16C72}"/>
            </c:ext>
          </c:extLst>
        </c:ser>
        <c:dLbls>
          <c:dLblPos val="outEnd"/>
          <c:showLegendKey val="0"/>
          <c:showVal val="1"/>
          <c:showCatName val="0"/>
          <c:showSerName val="0"/>
          <c:showPercent val="0"/>
          <c:showBubbleSize val="0"/>
          <c:showLeaderLines val="1"/>
        </c:dLbls>
      </c:pie3D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[Campaign_Data_Week1_new.xlsx]Campaign+Channel!PivotTable4</c:name>
    <c:fmtId val="28"/>
  </c:pivotSource>
  <c:chart>
    <c:autoTitleDeleted val="1"/>
    <c:pivotFmts>
      <c:pivotFmt>
        <c:idx val="0"/>
        <c:spPr>
          <a:solidFill>
            <a:schemeClr val="accent1"/>
          </a:solidFill>
          <a:ln>
            <a:noFill/>
          </a:ln>
          <a:effectLst/>
          <a:sp3d/>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2"/>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3"/>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2"/>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3"/>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2"/>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3"/>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'Campaign+Channel'!$B$3:$B$4</c:f>
              <c:strCache>
                <c:ptCount val="1"/>
                <c:pt idx="0">
                  <c:v>A</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'Campaign+Channel'!$A$5:$A$8</c:f>
              <c:strCache>
                <c:ptCount val="3"/>
                <c:pt idx="0">
                  <c:v>Email</c:v>
                </c:pt>
                <c:pt idx="1">
                  <c:v>Instagram</c:v>
                </c:pt>
                <c:pt idx="2">
                  <c:v>Web Banner</c:v>
                </c:pt>
              </c:strCache>
            </c:strRef>
          </c:cat>
          <c:val>
            <c:numRef>
              <c:f>'Campaign+Channel'!$B$5:$B$8</c:f>
              <c:numCache>
                <c:formatCode>"$"#,##0.00</c:formatCode>
                <c:ptCount val="3"/>
                <c:pt idx="0">
                  <c:v>2124.4700000000003</c:v>
                </c:pt>
                <c:pt idx="1">
                  <c:v>969.46</c:v>
                </c:pt>
                <c:pt idx="2">
                  <c:v>633.06000000000006</c:v>
                </c:pt>
              </c:numCache>
            </c:numRef>
          </c:val>
          <c:extLst>
            <c:ext xmlns:c16="http://schemas.microsoft.com/office/drawing/2014/chart" uri="{C3380CC4-5D6E-409C-BE32-E72D297353CC}">
              <c16:uniqueId val="{00000000-29E4-4904-8828-D8C92E61858A}"/>
            </c:ext>
          </c:extLst>
        </c:ser>
        <c:ser>
          <c:idx val="1"/>
          <c:order val="1"/>
          <c:tx>
            <c:strRef>
              <c:f>'Campaign+Channel'!$C$3:$C$4</c:f>
              <c:strCache>
                <c:ptCount val="1"/>
                <c:pt idx="0">
                  <c:v>B</c:v>
                </c:pt>
              </c:strCache>
            </c:strRef>
          </c:tx>
          <c:spPr>
            <a:solidFill>
              <a:schemeClr val="accent2"/>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'Campaign+Channel'!$A$5:$A$8</c:f>
              <c:strCache>
                <c:ptCount val="3"/>
                <c:pt idx="0">
                  <c:v>Email</c:v>
                </c:pt>
                <c:pt idx="1">
                  <c:v>Instagram</c:v>
                </c:pt>
                <c:pt idx="2">
                  <c:v>Web Banner</c:v>
                </c:pt>
              </c:strCache>
            </c:strRef>
          </c:cat>
          <c:val>
            <c:numRef>
              <c:f>'Campaign+Channel'!$C$5:$C$8</c:f>
              <c:numCache>
                <c:formatCode>"$"#,##0.00</c:formatCode>
                <c:ptCount val="3"/>
                <c:pt idx="0">
                  <c:v>1382.3799999999999</c:v>
                </c:pt>
                <c:pt idx="1">
                  <c:v>416.14</c:v>
                </c:pt>
                <c:pt idx="2">
                  <c:v>318.92000000000007</c:v>
                </c:pt>
              </c:numCache>
            </c:numRef>
          </c:val>
          <c:extLst>
            <c:ext xmlns:c16="http://schemas.microsoft.com/office/drawing/2014/chart" uri="{C3380CC4-5D6E-409C-BE32-E72D297353CC}">
              <c16:uniqueId val="{00000001-29E4-4904-8828-D8C92E61858A}"/>
            </c:ext>
          </c:extLst>
        </c:ser>
        <c:dLbls>
          <c:showLegendKey val="0"/>
          <c:showVal val="0"/>
          <c:showCatName val="0"/>
          <c:showSerName val="0"/>
          <c:showPercent val="0"/>
          <c:showBubbleSize val="0"/>
        </c:dLbls>
        <c:gapWidth val="150"/>
        <c:shape val="box"/>
        <c:axId val="319951984"/>
        <c:axId val="319952464"/>
        <c:axId val="0"/>
      </c:bar3DChart>
      <c:catAx>
        <c:axId val="319951984"/>
        <c:scaling>
          <c:orientation val="minMax"/>
        </c:scaling>
        <c:delete val="0"/>
        <c:axPos val="l"/>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a:t>Marketing Channel</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cap="none" spc="0" normalizeH="0" baseline="0">
                <a:solidFill>
                  <a:schemeClr val="tx1">
                    <a:lumMod val="65000"/>
                    <a:lumOff val="35000"/>
                  </a:schemeClr>
                </a:solidFill>
                <a:latin typeface="+mn-lt"/>
                <a:ea typeface="+mn-ea"/>
                <a:cs typeface="+mn-cs"/>
              </a:defRPr>
            </a:pPr>
            <a:endParaRPr lang="en-US"/>
          </a:p>
        </c:txPr>
        <c:crossAx val="319952464"/>
        <c:crosses val="autoZero"/>
        <c:auto val="1"/>
        <c:lblAlgn val="ctr"/>
        <c:lblOffset val="100"/>
        <c:noMultiLvlLbl val="0"/>
      </c:catAx>
      <c:valAx>
        <c:axId val="319952464"/>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a:t>Sales ($)</a:t>
                </a:r>
              </a:p>
            </c:rich>
          </c:tx>
          <c:overlay val="0"/>
          <c:spPr>
            <a:noFill/>
            <a:ln>
              <a:noFill/>
            </a:ln>
            <a:effectLst/>
          </c:spPr>
          <c:txPr>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1995198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6">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2/25/2026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2/25/2026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tags" Target="../tags/tag84.xml"/><Relationship Id="rId7" Type="http://schemas.openxmlformats.org/officeDocument/2006/relationships/oleObject" Target="../embeddings/oleObject17.bin"/><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1.emf"/><Relationship Id="rId5" Type="http://schemas.openxmlformats.org/officeDocument/2006/relationships/oleObject" Target="../embeddings/oleObject16.bin"/><Relationship Id="rId4" Type="http://schemas.openxmlformats.org/officeDocument/2006/relationships/slideLayout" Target="../slideLayouts/slideLayout2.xml"/><Relationship Id="rId9"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tags" Target="../tags/tag87.xml"/><Relationship Id="rId7" Type="http://schemas.openxmlformats.org/officeDocument/2006/relationships/oleObject" Target="../embeddings/oleObject17.bin"/><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image" Target="../media/image11.emf"/><Relationship Id="rId5" Type="http://schemas.openxmlformats.org/officeDocument/2006/relationships/oleObject" Target="../embeddings/oleObject16.bin"/><Relationship Id="rId4" Type="http://schemas.openxmlformats.org/officeDocument/2006/relationships/slideLayout" Target="../slideLayouts/slideLayout2.xml"/><Relationship Id="rId9" Type="http://schemas.openxmlformats.org/officeDocument/2006/relationships/chart" Target="../charts/chart1.xml"/></Relationships>
</file>

<file path=ppt/slides/_rels/slide4.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tags" Target="../tags/tag90.xml"/><Relationship Id="rId7" Type="http://schemas.openxmlformats.org/officeDocument/2006/relationships/oleObject" Target="../embeddings/oleObject17.bin"/><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image" Target="../media/image11.emf"/><Relationship Id="rId5" Type="http://schemas.openxmlformats.org/officeDocument/2006/relationships/oleObject" Target="../embeddings/oleObject16.bin"/><Relationship Id="rId4" Type="http://schemas.openxmlformats.org/officeDocument/2006/relationships/slideLayout" Target="../slideLayouts/slideLayout2.xml"/><Relationship Id="rId9" Type="http://schemas.openxmlformats.org/officeDocument/2006/relationships/chart" Target="../charts/chart2.xml"/></Relationships>
</file>

<file path=ppt/slides/_rels/slide5.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tags" Target="../tags/tag93.xml"/><Relationship Id="rId7" Type="http://schemas.openxmlformats.org/officeDocument/2006/relationships/oleObject" Target="../embeddings/oleObject17.bin"/><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image" Target="../media/image11.emf"/><Relationship Id="rId5" Type="http://schemas.openxmlformats.org/officeDocument/2006/relationships/oleObject" Target="../embeddings/oleObject16.bin"/><Relationship Id="rId4" Type="http://schemas.openxmlformats.org/officeDocument/2006/relationships/slideLayout" Target="../slideLayouts/slideLayout2.xml"/><Relationship Id="rId9" Type="http://schemas.openxmlformats.org/officeDocument/2006/relationships/chart" Target="../charts/chart3.xml"/></Relationships>
</file>

<file path=ppt/slides/_rels/slide6.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tags" Target="../tags/tag96.xml"/><Relationship Id="rId7" Type="http://schemas.openxmlformats.org/officeDocument/2006/relationships/oleObject" Target="../embeddings/oleObject17.bin"/><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11.emf"/><Relationship Id="rId5" Type="http://schemas.openxmlformats.org/officeDocument/2006/relationships/oleObject" Target="../embeddings/oleObject16.bin"/><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8C343608-FE36-1971-85D6-88D5FDB4420E}"/>
              </a:ext>
            </a:extLst>
          </p:cNvPr>
          <p:cNvPicPr>
            <a:picLocks noGrp="1" noChangeAspect="1"/>
          </p:cNvPicPr>
          <p:nvPr>
            <p:ph type="pic" sz="quarter" idx="13"/>
          </p:nvPr>
        </p:nvPicPr>
        <p:blipFill>
          <a:blip r:embed="rId2"/>
          <a:srcRect t="1603" b="1603"/>
          <a:stretch/>
        </p:blipFill>
        <p:spPr>
          <a:xfrm>
            <a:off x="9366561" y="5570722"/>
            <a:ext cx="1867935" cy="896673"/>
          </a:xfrm>
          <a:prstGeom prst="rect">
            <a:avLst/>
          </a:prstGeom>
          <a:noFill/>
        </p:spPr>
      </p:pic>
      <p:sp>
        <p:nvSpPr>
          <p:cNvPr id="3" name="Text Placeholder 2">
            <a:extLst>
              <a:ext uri="{FF2B5EF4-FFF2-40B4-BE49-F238E27FC236}">
                <a16:creationId xmlns:a16="http://schemas.microsoft.com/office/drawing/2014/main" id="{25E8A7F9-974D-0CD0-8CDC-E1DB22CAD1A3}"/>
              </a:ext>
            </a:extLst>
          </p:cNvPr>
          <p:cNvSpPr>
            <a:spLocks noGrp="1"/>
          </p:cNvSpPr>
          <p:nvPr>
            <p:ph type="body" sz="quarter" idx="12"/>
          </p:nvPr>
        </p:nvSpPr>
        <p:spPr>
          <a:xfrm>
            <a:off x="1117415" y="6207842"/>
            <a:ext cx="6868800" cy="327148"/>
          </a:xfrm>
        </p:spPr>
        <p:txBody>
          <a:bodyPr anchor="ctr">
            <a:normAutofit/>
          </a:bodyPr>
          <a:lstStyle/>
          <a:p>
            <a:r>
              <a:rPr lang="en-US" dirty="0"/>
              <a:t>2/25/2026</a:t>
            </a:r>
          </a:p>
        </p:txBody>
      </p:sp>
      <p:sp>
        <p:nvSpPr>
          <p:cNvPr id="4" name="Subtitle 3">
            <a:extLst>
              <a:ext uri="{FF2B5EF4-FFF2-40B4-BE49-F238E27FC236}">
                <a16:creationId xmlns:a16="http://schemas.microsoft.com/office/drawing/2014/main" id="{45B55605-C8C4-B072-64DA-92D218F6852E}"/>
              </a:ext>
            </a:extLst>
          </p:cNvPr>
          <p:cNvSpPr>
            <a:spLocks noGrp="1"/>
          </p:cNvSpPr>
          <p:nvPr>
            <p:ph type="subTitle" idx="1"/>
          </p:nvPr>
        </p:nvSpPr>
        <p:spPr>
          <a:xfrm>
            <a:off x="1117415" y="5495706"/>
            <a:ext cx="6868800" cy="436195"/>
          </a:xfrm>
        </p:spPr>
        <p:txBody>
          <a:bodyPr anchor="ctr">
            <a:normAutofit/>
          </a:bodyPr>
          <a:lstStyle/>
          <a:p>
            <a:pPr>
              <a:lnSpc>
                <a:spcPct val="100000"/>
              </a:lnSpc>
            </a:pPr>
            <a:r>
              <a:rPr lang="en-US" sz="1400" dirty="0"/>
              <a:t>Evaluating Campaign A (Conversational Tone) vs. Campaign B (Promotional Tone) Across Email, Instagram, and Web Banner</a:t>
            </a:r>
          </a:p>
        </p:txBody>
      </p:sp>
      <p:sp>
        <p:nvSpPr>
          <p:cNvPr id="5" name="Title 4">
            <a:extLst>
              <a:ext uri="{FF2B5EF4-FFF2-40B4-BE49-F238E27FC236}">
                <a16:creationId xmlns:a16="http://schemas.microsoft.com/office/drawing/2014/main" id="{52CDC0B0-E189-512C-781F-67E938DB3935}"/>
              </a:ext>
            </a:extLst>
          </p:cNvPr>
          <p:cNvSpPr>
            <a:spLocks noGrp="1"/>
          </p:cNvSpPr>
          <p:nvPr>
            <p:ph type="ctrTitle"/>
          </p:nvPr>
        </p:nvSpPr>
        <p:spPr>
          <a:xfrm>
            <a:off x="1117415" y="1886242"/>
            <a:ext cx="6868800" cy="3138423"/>
          </a:xfrm>
        </p:spPr>
        <p:txBody>
          <a:bodyPr wrap="square" anchor="b">
            <a:normAutofit/>
          </a:bodyPr>
          <a:lstStyle/>
          <a:p>
            <a:r>
              <a:rPr lang="en-US" sz="5000" b="1" dirty="0"/>
              <a:t>Campaign Performance Analysis – </a:t>
            </a:r>
            <a:r>
              <a:rPr lang="en-US" sz="5000" b="1" dirty="0" err="1"/>
              <a:t>NewCo</a:t>
            </a:r>
            <a:r>
              <a:rPr lang="en-US" sz="5000" b="1" dirty="0"/>
              <a:t> Marketing Case Study</a:t>
            </a:r>
            <a:br>
              <a:rPr lang="en-US" sz="5000" dirty="0"/>
            </a:br>
            <a:endParaRPr lang="en-US" sz="5000" dirty="0"/>
          </a:p>
        </p:txBody>
      </p:sp>
    </p:spTree>
    <p:extLst>
      <p:ext uri="{BB962C8B-B14F-4D97-AF65-F5344CB8AC3E}">
        <p14:creationId xmlns:p14="http://schemas.microsoft.com/office/powerpoint/2010/main" val="41778944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30000" y="622800"/>
            <a:ext cx="10933200" cy="387798"/>
          </a:xfrm>
        </p:spPr>
        <p:txBody>
          <a:bodyPr anchor="t"/>
          <a:lstStyle/>
          <a:p>
            <a:r>
              <a:rPr lang="en-US" sz="2800" dirty="0"/>
              <a:t>Pivot Table</a:t>
            </a:r>
          </a:p>
        </p:txBody>
      </p:sp>
      <p:sp>
        <p:nvSpPr>
          <p:cNvPr id="2" name="Rectangle 1">
            <a:extLst>
              <a:ext uri="{FF2B5EF4-FFF2-40B4-BE49-F238E27FC236}">
                <a16:creationId xmlns:a16="http://schemas.microsoft.com/office/drawing/2014/main" id="{477E036F-AF50-32A5-AA87-4A97F3F6A88D}"/>
              </a:ext>
            </a:extLst>
          </p:cNvPr>
          <p:cNvSpPr/>
          <p:nvPr/>
        </p:nvSpPr>
        <p:spPr>
          <a:xfrm>
            <a:off x="641671" y="4164710"/>
            <a:ext cx="10933200" cy="2164343"/>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dirty="0">
                <a:solidFill>
                  <a:schemeClr val="tx1">
                    <a:lumMod val="50000"/>
                  </a:schemeClr>
                </a:solidFill>
              </a:rPr>
              <a:t>Description:</a:t>
            </a:r>
          </a:p>
          <a:p>
            <a:r>
              <a:rPr lang="en-US" sz="1400" dirty="0">
                <a:solidFill>
                  <a:schemeClr val="tx1">
                    <a:lumMod val="50000"/>
                  </a:schemeClr>
                </a:solidFill>
              </a:rPr>
              <a:t>This pivot table highlights how each campaign performed across Email, Instagram, and Web Banner for </a:t>
            </a:r>
            <a:r>
              <a:rPr lang="en-US" sz="1400" b="1" dirty="0">
                <a:solidFill>
                  <a:schemeClr val="tx1">
                    <a:lumMod val="50000"/>
                  </a:schemeClr>
                </a:solidFill>
              </a:rPr>
              <a:t>new customers only</a:t>
            </a:r>
            <a:r>
              <a:rPr lang="en-US" sz="1400" dirty="0">
                <a:solidFill>
                  <a:schemeClr val="tx1">
                    <a:lumMod val="50000"/>
                  </a:schemeClr>
                </a:solidFill>
              </a:rPr>
              <a:t>.</a:t>
            </a:r>
          </a:p>
          <a:p>
            <a:r>
              <a:rPr lang="en-US" sz="1400" b="1" dirty="0">
                <a:solidFill>
                  <a:schemeClr val="tx1">
                    <a:lumMod val="50000"/>
                  </a:schemeClr>
                </a:solidFill>
              </a:rPr>
              <a:t>Campaign A</a:t>
            </a:r>
            <a:r>
              <a:rPr lang="en-US" sz="1400" dirty="0">
                <a:solidFill>
                  <a:schemeClr val="tx1">
                    <a:lumMod val="50000"/>
                  </a:schemeClr>
                </a:solidFill>
              </a:rPr>
              <a:t> drove the highest new customer sales overall ($3,726.99), with Email as the strongest channel ($2,124.47).</a:t>
            </a:r>
          </a:p>
          <a:p>
            <a:r>
              <a:rPr lang="en-US" sz="1400" b="1" dirty="0">
                <a:solidFill>
                  <a:schemeClr val="tx1">
                    <a:lumMod val="50000"/>
                  </a:schemeClr>
                </a:solidFill>
              </a:rPr>
              <a:t>Campaign B</a:t>
            </a:r>
            <a:r>
              <a:rPr lang="en-US" sz="1400" dirty="0">
                <a:solidFill>
                  <a:schemeClr val="tx1">
                    <a:lumMod val="50000"/>
                  </a:schemeClr>
                </a:solidFill>
              </a:rPr>
              <a:t> generated fewer new customer sales ($2,117.44), though Email still led within the campaign ($1,382.38).</a:t>
            </a:r>
          </a:p>
          <a:p>
            <a:r>
              <a:rPr lang="en-US" sz="1400" dirty="0">
                <a:solidFill>
                  <a:schemeClr val="tx1">
                    <a:lumMod val="50000"/>
                  </a:schemeClr>
                </a:solidFill>
              </a:rPr>
              <a:t>Across both campaigns, </a:t>
            </a:r>
            <a:r>
              <a:rPr lang="en-US" sz="1400" b="1" dirty="0">
                <a:solidFill>
                  <a:schemeClr val="tx1">
                    <a:lumMod val="50000"/>
                  </a:schemeClr>
                </a:solidFill>
              </a:rPr>
              <a:t>Email accounted for the majority of new customer sales ($3,506.85)</a:t>
            </a:r>
            <a:r>
              <a:rPr lang="en-US" sz="1400" dirty="0">
                <a:solidFill>
                  <a:schemeClr val="tx1">
                    <a:lumMod val="50000"/>
                  </a:schemeClr>
                </a:solidFill>
              </a:rPr>
              <a:t>, confirming it as the most effective acquisition channel</a:t>
            </a:r>
          </a:p>
          <a:p>
            <a:endParaRPr lang="en-US" sz="1400" dirty="0">
              <a:solidFill>
                <a:schemeClr val="tx1">
                  <a:lumMod val="50000"/>
                </a:schemeClr>
              </a:solidFill>
              <a:effectLst/>
            </a:endParaRPr>
          </a:p>
        </p:txBody>
      </p:sp>
      <p:sp>
        <p:nvSpPr>
          <p:cNvPr id="8" name="Rectangle 7">
            <a:extLst>
              <a:ext uri="{FF2B5EF4-FFF2-40B4-BE49-F238E27FC236}">
                <a16:creationId xmlns:a16="http://schemas.microsoft.com/office/drawing/2014/main" id="{942B0D30-68D6-1748-728E-7FA73A5976EC}"/>
              </a:ext>
            </a:extLst>
          </p:cNvPr>
          <p:cNvSpPr/>
          <p:nvPr/>
        </p:nvSpPr>
        <p:spPr>
          <a:xfrm>
            <a:off x="2306853" y="1200439"/>
            <a:ext cx="6338954" cy="338554"/>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sz="2128" b="1" i="0" u="none" strike="noStrike" kern="1200" baseline="0">
                <a:solidFill>
                  <a:srgbClr val="575757">
                    <a:lumMod val="65000"/>
                    <a:lumOff val="35000"/>
                  </a:srgbClr>
                </a:solidFill>
                <a:latin typeface="+mn-lt"/>
                <a:ea typeface="+mn-ea"/>
                <a:cs typeface="+mn-cs"/>
              </a:defRPr>
            </a:pPr>
            <a:r>
              <a:rPr lang="en-US" sz="1600" b="1" dirty="0">
                <a:solidFill>
                  <a:srgbClr val="575757">
                    <a:lumMod val="65000"/>
                    <a:lumOff val="35000"/>
                  </a:srgbClr>
                </a:solidFill>
              </a:rPr>
              <a:t>New Customer Sales by Campaign and Channel</a:t>
            </a: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641671" y="1667280"/>
            <a:ext cx="10947356" cy="2369143"/>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pic>
        <p:nvPicPr>
          <p:cNvPr id="12" name="Picture 11">
            <a:extLst>
              <a:ext uri="{FF2B5EF4-FFF2-40B4-BE49-F238E27FC236}">
                <a16:creationId xmlns:a16="http://schemas.microsoft.com/office/drawing/2014/main" id="{96131AF5-6318-B1E4-4006-2E48CF347F56}"/>
              </a:ext>
            </a:extLst>
          </p:cNvPr>
          <p:cNvPicPr>
            <a:picLocks noChangeAspect="1"/>
          </p:cNvPicPr>
          <p:nvPr/>
        </p:nvPicPr>
        <p:blipFill>
          <a:blip r:embed="rId9"/>
          <a:stretch>
            <a:fillRect/>
          </a:stretch>
        </p:blipFill>
        <p:spPr>
          <a:xfrm>
            <a:off x="997844" y="1667280"/>
            <a:ext cx="8956972" cy="2220104"/>
          </a:xfrm>
          <a:prstGeom prst="rect">
            <a:avLst/>
          </a:prstGeom>
        </p:spPr>
      </p:pic>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C71DB644-88FB-1425-2203-F83C684BDE01}"/>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61BE531E-7407-8705-8279-6C4B5EB5A03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9401A7A1-8BBE-1819-D822-505AB1176DF6}"/>
              </a:ext>
            </a:extLst>
          </p:cNvPr>
          <p:cNvSpPr>
            <a:spLocks noGrp="1"/>
          </p:cNvSpPr>
          <p:nvPr>
            <p:ph type="title"/>
          </p:nvPr>
        </p:nvSpPr>
        <p:spPr>
          <a:xfrm>
            <a:off x="630000" y="622800"/>
            <a:ext cx="10933200" cy="387798"/>
          </a:xfrm>
        </p:spPr>
        <p:txBody>
          <a:bodyPr anchor="t"/>
          <a:lstStyle/>
          <a:p>
            <a:r>
              <a:rPr lang="en-US" sz="2800" dirty="0"/>
              <a:t>Stacked Bar Chat</a:t>
            </a:r>
          </a:p>
        </p:txBody>
      </p:sp>
      <p:sp>
        <p:nvSpPr>
          <p:cNvPr id="2" name="Rectangle 1">
            <a:extLst>
              <a:ext uri="{FF2B5EF4-FFF2-40B4-BE49-F238E27FC236}">
                <a16:creationId xmlns:a16="http://schemas.microsoft.com/office/drawing/2014/main" id="{A1757553-61C8-D0B7-498F-36A20EC3354F}"/>
              </a:ext>
            </a:extLst>
          </p:cNvPr>
          <p:cNvSpPr/>
          <p:nvPr/>
        </p:nvSpPr>
        <p:spPr>
          <a:xfrm>
            <a:off x="629400" y="5190610"/>
            <a:ext cx="10933200" cy="1044590"/>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a:solidFill>
                  <a:schemeClr val="tx1">
                    <a:lumMod val="50000"/>
                  </a:schemeClr>
                </a:solidFill>
              </a:rPr>
              <a:t>Description:</a:t>
            </a:r>
            <a:endParaRPr lang="en-US" sz="1600" dirty="0">
              <a:solidFill>
                <a:schemeClr val="tx1">
                  <a:lumMod val="50000"/>
                </a:schemeClr>
              </a:solidFill>
            </a:endParaRPr>
          </a:p>
          <a:p>
            <a:r>
              <a:rPr lang="en-US" sz="1600" dirty="0">
                <a:solidFill>
                  <a:schemeClr val="tx1">
                    <a:lumMod val="50000"/>
                  </a:schemeClr>
                </a:solidFill>
              </a:rPr>
              <a:t>Email consistently outperformed Instagram and Web Banner.</a:t>
            </a:r>
          </a:p>
          <a:p>
            <a:r>
              <a:rPr lang="en-US" sz="1600" dirty="0">
                <a:solidFill>
                  <a:schemeClr val="tx1">
                    <a:lumMod val="50000"/>
                  </a:schemeClr>
                </a:solidFill>
              </a:rPr>
              <a:t>Campaign A Email: $2,124.47 vs. Campaign B Email: $1,382.38.</a:t>
            </a:r>
          </a:p>
          <a:p>
            <a:r>
              <a:rPr lang="en-US" sz="1600" dirty="0">
                <a:solidFill>
                  <a:schemeClr val="tx1">
                    <a:lumMod val="50000"/>
                  </a:schemeClr>
                </a:solidFill>
              </a:rPr>
              <a:t>Email is the most reliable channel for driving sales.</a:t>
            </a:r>
          </a:p>
        </p:txBody>
      </p:sp>
      <p:sp>
        <p:nvSpPr>
          <p:cNvPr id="8" name="Rectangle 7">
            <a:extLst>
              <a:ext uri="{FF2B5EF4-FFF2-40B4-BE49-F238E27FC236}">
                <a16:creationId xmlns:a16="http://schemas.microsoft.com/office/drawing/2014/main" id="{FE8B94DF-6B81-5471-613D-1313C5006814}"/>
              </a:ext>
            </a:extLst>
          </p:cNvPr>
          <p:cNvSpPr/>
          <p:nvPr/>
        </p:nvSpPr>
        <p:spPr>
          <a:xfrm>
            <a:off x="2306853" y="1200439"/>
            <a:ext cx="6338954" cy="338554"/>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sz="2128" b="1" i="0" u="none" strike="noStrike" kern="1200" baseline="0">
                <a:solidFill>
                  <a:srgbClr val="575757">
                    <a:lumMod val="65000"/>
                    <a:lumOff val="35000"/>
                  </a:srgbClr>
                </a:solidFill>
                <a:latin typeface="+mn-lt"/>
                <a:ea typeface="+mn-ea"/>
                <a:cs typeface="+mn-cs"/>
              </a:defRPr>
            </a:pPr>
            <a:r>
              <a:rPr lang="en-US" sz="1600" b="1" dirty="0"/>
              <a:t>Channel Effectiveness Across Campaigns</a:t>
            </a:r>
            <a:endParaRPr lang="en-US" sz="1600" dirty="0"/>
          </a:p>
        </p:txBody>
      </p:sp>
      <p:graphicFrame>
        <p:nvGraphicFramePr>
          <p:cNvPr id="17" name="Object 16" hidden="1">
            <a:extLst>
              <a:ext uri="{FF2B5EF4-FFF2-40B4-BE49-F238E27FC236}">
                <a16:creationId xmlns:a16="http://schemas.microsoft.com/office/drawing/2014/main" id="{AAEB37FC-F3B6-7F9C-2F3B-59029AD16BA7}"/>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223BA789-1BB4-55B4-C5EF-C035069E95CC}"/>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58C2D6DB-DBF5-95D5-4824-AE877387A576}"/>
              </a:ext>
            </a:extLst>
          </p:cNvPr>
          <p:cNvSpPr/>
          <p:nvPr/>
        </p:nvSpPr>
        <p:spPr>
          <a:xfrm>
            <a:off x="641671" y="1667280"/>
            <a:ext cx="10947356" cy="3246185"/>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 name="Rectangle 4">
            <a:extLst>
              <a:ext uri="{FF2B5EF4-FFF2-40B4-BE49-F238E27FC236}">
                <a16:creationId xmlns:a16="http://schemas.microsoft.com/office/drawing/2014/main" id="{4F90C729-387D-3469-EA60-C4BCC9D850CD}"/>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6C57645A-5AEE-BD52-0A60-1AFE34074216}"/>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aphicFrame>
        <p:nvGraphicFramePr>
          <p:cNvPr id="9" name="Chart 8">
            <a:extLst>
              <a:ext uri="{FF2B5EF4-FFF2-40B4-BE49-F238E27FC236}">
                <a16:creationId xmlns:a16="http://schemas.microsoft.com/office/drawing/2014/main" id="{DD20B87D-BC5E-D689-FA67-FE5BD2B58888}"/>
              </a:ext>
            </a:extLst>
          </p:cNvPr>
          <p:cNvGraphicFramePr>
            <a:graphicFrameLocks/>
          </p:cNvGraphicFramePr>
          <p:nvPr>
            <p:extLst>
              <p:ext uri="{D42A27DB-BD31-4B8C-83A1-F6EECF244321}">
                <p14:modId xmlns:p14="http://schemas.microsoft.com/office/powerpoint/2010/main" val="3204358066"/>
              </p:ext>
            </p:extLst>
          </p:nvPr>
        </p:nvGraphicFramePr>
        <p:xfrm>
          <a:off x="2306853" y="1667280"/>
          <a:ext cx="6824084" cy="3246185"/>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34228509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72E919DC-426E-204A-700E-25699BC65F0B}"/>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A0F85A0-CBC7-83EF-6F43-59C19C9D969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DD3717D7-5DD2-8C29-23B3-C45B26E5825C}"/>
              </a:ext>
            </a:extLst>
          </p:cNvPr>
          <p:cNvSpPr>
            <a:spLocks noGrp="1"/>
          </p:cNvSpPr>
          <p:nvPr>
            <p:ph type="title"/>
          </p:nvPr>
        </p:nvSpPr>
        <p:spPr>
          <a:xfrm>
            <a:off x="630000" y="622800"/>
            <a:ext cx="10933200" cy="387798"/>
          </a:xfrm>
        </p:spPr>
        <p:txBody>
          <a:bodyPr anchor="t"/>
          <a:lstStyle/>
          <a:p>
            <a:r>
              <a:rPr lang="en-US" sz="2800" dirty="0"/>
              <a:t>Pie Chart</a:t>
            </a:r>
          </a:p>
        </p:txBody>
      </p:sp>
      <p:sp>
        <p:nvSpPr>
          <p:cNvPr id="2" name="Rectangle 1">
            <a:extLst>
              <a:ext uri="{FF2B5EF4-FFF2-40B4-BE49-F238E27FC236}">
                <a16:creationId xmlns:a16="http://schemas.microsoft.com/office/drawing/2014/main" id="{E0AF1960-F9A5-A898-EBDA-4865213E5EBB}"/>
              </a:ext>
            </a:extLst>
          </p:cNvPr>
          <p:cNvSpPr/>
          <p:nvPr/>
        </p:nvSpPr>
        <p:spPr>
          <a:xfrm>
            <a:off x="641671" y="5209394"/>
            <a:ext cx="10933200" cy="1025806"/>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a:solidFill>
                  <a:schemeClr val="tx1">
                    <a:lumMod val="50000"/>
                  </a:schemeClr>
                </a:solidFill>
              </a:rPr>
              <a:t>Description:</a:t>
            </a:r>
            <a:endParaRPr lang="en-US" sz="1600" dirty="0">
              <a:solidFill>
                <a:schemeClr val="tx1">
                  <a:lumMod val="50000"/>
                </a:schemeClr>
              </a:solidFill>
            </a:endParaRPr>
          </a:p>
          <a:p>
            <a:r>
              <a:rPr lang="en-US" sz="1600" dirty="0">
                <a:solidFill>
                  <a:schemeClr val="tx1">
                    <a:lumMod val="50000"/>
                  </a:schemeClr>
                </a:solidFill>
              </a:rPr>
              <a:t>Email drove the majority of new customer sales.</a:t>
            </a:r>
          </a:p>
          <a:p>
            <a:r>
              <a:rPr lang="en-US" sz="1600" dirty="0">
                <a:solidFill>
                  <a:schemeClr val="tx1">
                    <a:lumMod val="50000"/>
                  </a:schemeClr>
                </a:solidFill>
              </a:rPr>
              <a:t>Breakdown: Email $2,124.47, Instagram $969.46, Web Banner $633.06.</a:t>
            </a:r>
          </a:p>
          <a:p>
            <a:r>
              <a:rPr lang="en-US" sz="1600" dirty="0">
                <a:solidFill>
                  <a:schemeClr val="tx1">
                    <a:lumMod val="50000"/>
                  </a:schemeClr>
                </a:solidFill>
              </a:rPr>
              <a:t>Email is the dominant acquisition channel.</a:t>
            </a:r>
          </a:p>
          <a:p>
            <a:endParaRPr lang="en-US" sz="1600" dirty="0">
              <a:solidFill>
                <a:schemeClr val="tx1">
                  <a:lumMod val="50000"/>
                </a:schemeClr>
              </a:solidFill>
              <a:latin typeface="+mj-lt"/>
            </a:endParaRPr>
          </a:p>
        </p:txBody>
      </p:sp>
      <p:sp>
        <p:nvSpPr>
          <p:cNvPr id="8" name="Rectangle 7">
            <a:extLst>
              <a:ext uri="{FF2B5EF4-FFF2-40B4-BE49-F238E27FC236}">
                <a16:creationId xmlns:a16="http://schemas.microsoft.com/office/drawing/2014/main" id="{BEE06E63-56FB-5F37-50D3-30ECCFF071AE}"/>
              </a:ext>
            </a:extLst>
          </p:cNvPr>
          <p:cNvSpPr/>
          <p:nvPr/>
        </p:nvSpPr>
        <p:spPr>
          <a:xfrm>
            <a:off x="2835662" y="1169662"/>
            <a:ext cx="5281335" cy="338554"/>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sz="2128" b="1" i="0" u="none" strike="noStrike" kern="1200" cap="all" baseline="0">
                <a:solidFill>
                  <a:srgbClr val="575757">
                    <a:lumMod val="65000"/>
                    <a:lumOff val="35000"/>
                  </a:srgbClr>
                </a:solidFill>
                <a:latin typeface="+mn-lt"/>
                <a:ea typeface="+mn-ea"/>
                <a:cs typeface="+mn-cs"/>
              </a:defRPr>
            </a:pPr>
            <a:r>
              <a:rPr lang="en-US" sz="1600" b="1" cap="all" dirty="0"/>
              <a:t>Proportion of New Customer Sales by Channel</a:t>
            </a:r>
            <a:endParaRPr lang="en-US" sz="1600" dirty="0"/>
          </a:p>
        </p:txBody>
      </p:sp>
      <p:graphicFrame>
        <p:nvGraphicFramePr>
          <p:cNvPr id="17" name="Object 16" hidden="1">
            <a:extLst>
              <a:ext uri="{FF2B5EF4-FFF2-40B4-BE49-F238E27FC236}">
                <a16:creationId xmlns:a16="http://schemas.microsoft.com/office/drawing/2014/main" id="{49CB8A3D-CB5C-BD97-0FA2-C7947AD37F9D}"/>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C653989A-16BE-75C4-6213-10262E0893FA}"/>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F461850-86DA-BCB5-8AA1-C352BC954B42}"/>
              </a:ext>
            </a:extLst>
          </p:cNvPr>
          <p:cNvSpPr/>
          <p:nvPr/>
        </p:nvSpPr>
        <p:spPr>
          <a:xfrm>
            <a:off x="641671" y="1667280"/>
            <a:ext cx="10921529" cy="3246185"/>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 name="Rectangle 4">
            <a:extLst>
              <a:ext uri="{FF2B5EF4-FFF2-40B4-BE49-F238E27FC236}">
                <a16:creationId xmlns:a16="http://schemas.microsoft.com/office/drawing/2014/main" id="{FFFCD50F-7017-FE6B-DD26-680A3F6CDD82}"/>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D3B76EF9-0A5C-00EA-82A2-210F2845A35B}"/>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aphicFrame>
        <p:nvGraphicFramePr>
          <p:cNvPr id="9" name="Chart 8">
            <a:extLst>
              <a:ext uri="{FF2B5EF4-FFF2-40B4-BE49-F238E27FC236}">
                <a16:creationId xmlns:a16="http://schemas.microsoft.com/office/drawing/2014/main" id="{C1283A25-D00D-5F66-BC95-F77F13F76F6E}"/>
              </a:ext>
            </a:extLst>
          </p:cNvPr>
          <p:cNvGraphicFramePr>
            <a:graphicFrameLocks/>
          </p:cNvGraphicFramePr>
          <p:nvPr>
            <p:extLst>
              <p:ext uri="{D42A27DB-BD31-4B8C-83A1-F6EECF244321}">
                <p14:modId xmlns:p14="http://schemas.microsoft.com/office/powerpoint/2010/main" val="4245025289"/>
              </p:ext>
            </p:extLst>
          </p:nvPr>
        </p:nvGraphicFramePr>
        <p:xfrm>
          <a:off x="1670003" y="1667281"/>
          <a:ext cx="7612655" cy="3246184"/>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244014223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CD129747-1C5D-70A5-61ED-2202A935B5AD}"/>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FAC1A7F0-E4B6-8AB5-3EF8-D8366BF79D6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5A0F85A0-CBC7-83EF-6F43-59C19C9D969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54AA8DE2-2951-D510-28D1-549EB35B995E}"/>
              </a:ext>
            </a:extLst>
          </p:cNvPr>
          <p:cNvSpPr>
            <a:spLocks noGrp="1"/>
          </p:cNvSpPr>
          <p:nvPr>
            <p:ph type="title"/>
          </p:nvPr>
        </p:nvSpPr>
        <p:spPr>
          <a:xfrm>
            <a:off x="630000" y="622800"/>
            <a:ext cx="10933200" cy="387798"/>
          </a:xfrm>
        </p:spPr>
        <p:txBody>
          <a:bodyPr anchor="t"/>
          <a:lstStyle/>
          <a:p>
            <a:r>
              <a:rPr lang="en-US" sz="2800" dirty="0"/>
              <a:t>Horizontal Bar Chat</a:t>
            </a:r>
          </a:p>
        </p:txBody>
      </p:sp>
      <p:sp>
        <p:nvSpPr>
          <p:cNvPr id="2" name="Rectangle 1">
            <a:extLst>
              <a:ext uri="{FF2B5EF4-FFF2-40B4-BE49-F238E27FC236}">
                <a16:creationId xmlns:a16="http://schemas.microsoft.com/office/drawing/2014/main" id="{0070301E-97D5-8FBF-0E14-1CF850D1B863}"/>
              </a:ext>
            </a:extLst>
          </p:cNvPr>
          <p:cNvSpPr/>
          <p:nvPr/>
        </p:nvSpPr>
        <p:spPr>
          <a:xfrm>
            <a:off x="641671" y="5190719"/>
            <a:ext cx="10933200" cy="1138334"/>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a:solidFill>
                  <a:schemeClr val="tx1">
                    <a:lumMod val="50000"/>
                  </a:schemeClr>
                </a:solidFill>
              </a:rPr>
              <a:t>Description:</a:t>
            </a:r>
            <a:endParaRPr lang="en-US" sz="1600" dirty="0">
              <a:solidFill>
                <a:schemeClr val="tx1">
                  <a:lumMod val="50000"/>
                </a:schemeClr>
              </a:solidFill>
            </a:endParaRPr>
          </a:p>
          <a:p>
            <a:r>
              <a:rPr lang="en-US" sz="1600" dirty="0">
                <a:solidFill>
                  <a:schemeClr val="tx1">
                    <a:lumMod val="50000"/>
                  </a:schemeClr>
                </a:solidFill>
              </a:rPr>
              <a:t>Campaign A generated higher new customer sales overall ($3,726.99 vs. $2,117.44).</a:t>
            </a:r>
          </a:p>
          <a:p>
            <a:r>
              <a:rPr lang="en-US" sz="1600" dirty="0">
                <a:solidFill>
                  <a:schemeClr val="tx1">
                    <a:lumMod val="50000"/>
                  </a:schemeClr>
                </a:solidFill>
              </a:rPr>
              <a:t>Campaign A’s conversational tone resonated more with new customers.</a:t>
            </a:r>
          </a:p>
          <a:p>
            <a:r>
              <a:rPr lang="en-US" sz="1600" dirty="0">
                <a:solidFill>
                  <a:schemeClr val="tx1">
                    <a:lumMod val="50000"/>
                  </a:schemeClr>
                </a:solidFill>
              </a:rPr>
              <a:t>Campaign B drove higher overall sales, but less effective for acquisition.</a:t>
            </a:r>
            <a:endParaRPr lang="en-US" sz="1600" dirty="0">
              <a:solidFill>
                <a:schemeClr val="tx1">
                  <a:lumMod val="50000"/>
                </a:schemeClr>
              </a:solidFill>
              <a:effectLst/>
            </a:endParaRPr>
          </a:p>
        </p:txBody>
      </p:sp>
      <p:sp>
        <p:nvSpPr>
          <p:cNvPr id="8" name="Rectangle 7">
            <a:extLst>
              <a:ext uri="{FF2B5EF4-FFF2-40B4-BE49-F238E27FC236}">
                <a16:creationId xmlns:a16="http://schemas.microsoft.com/office/drawing/2014/main" id="{E5057DAE-1C82-3766-9FC6-7D188B160355}"/>
              </a:ext>
            </a:extLst>
          </p:cNvPr>
          <p:cNvSpPr/>
          <p:nvPr/>
        </p:nvSpPr>
        <p:spPr>
          <a:xfrm>
            <a:off x="2736511" y="1169662"/>
            <a:ext cx="5479638" cy="338554"/>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sz="2200" b="0" i="0" u="none" strike="noStrike" kern="1200" cap="none" spc="0" normalizeH="0" baseline="0">
                <a:solidFill>
                  <a:srgbClr val="575757">
                    <a:lumMod val="65000"/>
                    <a:lumOff val="35000"/>
                  </a:srgbClr>
                </a:solidFill>
                <a:latin typeface="+mj-lt"/>
                <a:ea typeface="+mj-ea"/>
                <a:cs typeface="+mj-cs"/>
              </a:defRPr>
            </a:pPr>
            <a:r>
              <a:rPr lang="en-US" sz="1600" b="1" dirty="0">
                <a:solidFill>
                  <a:srgbClr val="575757">
                    <a:lumMod val="65000"/>
                    <a:lumOff val="35000"/>
                  </a:srgbClr>
                </a:solidFill>
              </a:rPr>
              <a:t>Sales Breakdown by Channel for Campaigns A and B</a:t>
            </a:r>
          </a:p>
        </p:txBody>
      </p:sp>
      <p:graphicFrame>
        <p:nvGraphicFramePr>
          <p:cNvPr id="17" name="Object 16" hidden="1">
            <a:extLst>
              <a:ext uri="{FF2B5EF4-FFF2-40B4-BE49-F238E27FC236}">
                <a16:creationId xmlns:a16="http://schemas.microsoft.com/office/drawing/2014/main" id="{67F5D2A3-0947-8513-1C66-32C3FD10BD04}"/>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49CB8A3D-CB5C-BD97-0FA2-C7947AD37F9D}"/>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86AC975F-155C-2D5E-FCE0-1E6A87FD992F}"/>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ACD61703-AA57-88D1-8EC2-2A297AD65487}"/>
              </a:ext>
            </a:extLst>
          </p:cNvPr>
          <p:cNvSpPr/>
          <p:nvPr/>
        </p:nvSpPr>
        <p:spPr>
          <a:xfrm>
            <a:off x="641671" y="1667280"/>
            <a:ext cx="10947355" cy="3246185"/>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 name="Rectangle 4">
            <a:extLst>
              <a:ext uri="{FF2B5EF4-FFF2-40B4-BE49-F238E27FC236}">
                <a16:creationId xmlns:a16="http://schemas.microsoft.com/office/drawing/2014/main" id="{E5B60B13-705B-3859-11D0-7112DCF50F64}"/>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6D65A61F-20E3-749B-3504-AD4C2353015A}"/>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aphicFrame>
        <p:nvGraphicFramePr>
          <p:cNvPr id="12" name="Chart 11">
            <a:extLst>
              <a:ext uri="{FF2B5EF4-FFF2-40B4-BE49-F238E27FC236}">
                <a16:creationId xmlns:a16="http://schemas.microsoft.com/office/drawing/2014/main" id="{3D535D20-35FF-9AC6-627D-E11E8A2787CA}"/>
              </a:ext>
            </a:extLst>
          </p:cNvPr>
          <p:cNvGraphicFramePr>
            <a:graphicFrameLocks/>
          </p:cNvGraphicFramePr>
          <p:nvPr>
            <p:extLst>
              <p:ext uri="{D42A27DB-BD31-4B8C-83A1-F6EECF244321}">
                <p14:modId xmlns:p14="http://schemas.microsoft.com/office/powerpoint/2010/main" val="3602806407"/>
              </p:ext>
            </p:extLst>
          </p:nvPr>
        </p:nvGraphicFramePr>
        <p:xfrm>
          <a:off x="2039542" y="1667281"/>
          <a:ext cx="6873577" cy="3246184"/>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360707796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63A7B9E1-91F7-1BF2-5BBA-48AED302DC4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70C496FF-CE0A-FCBE-93BE-2ADA0437A15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02201904-ADC3-4C1E-E2D7-72A082B26C1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C683150-7F15-B4DC-DEC8-222A2F4F2266}"/>
              </a:ext>
            </a:extLst>
          </p:cNvPr>
          <p:cNvSpPr>
            <a:spLocks noGrp="1"/>
          </p:cNvSpPr>
          <p:nvPr>
            <p:ph type="title"/>
          </p:nvPr>
        </p:nvSpPr>
        <p:spPr>
          <a:xfrm>
            <a:off x="630000" y="622800"/>
            <a:ext cx="10933200" cy="387798"/>
          </a:xfrm>
        </p:spPr>
        <p:txBody>
          <a:bodyPr anchor="t"/>
          <a:lstStyle/>
          <a:p>
            <a:r>
              <a:rPr lang="en-US" sz="2800" b="1" dirty="0"/>
              <a:t>Recommendation – Grow New Customer Sales</a:t>
            </a:r>
            <a:endParaRPr lang="en-US" sz="2800" dirty="0">
              <a:effectLst/>
            </a:endParaRPr>
          </a:p>
        </p:txBody>
      </p:sp>
      <p:sp>
        <p:nvSpPr>
          <p:cNvPr id="2" name="Rectangle 1">
            <a:extLst>
              <a:ext uri="{FF2B5EF4-FFF2-40B4-BE49-F238E27FC236}">
                <a16:creationId xmlns:a16="http://schemas.microsoft.com/office/drawing/2014/main" id="{86C7F21A-3BB4-28B5-D5A3-8174B476A707}"/>
              </a:ext>
            </a:extLst>
          </p:cNvPr>
          <p:cNvSpPr/>
          <p:nvPr/>
        </p:nvSpPr>
        <p:spPr>
          <a:xfrm>
            <a:off x="641671" y="1839817"/>
            <a:ext cx="10933200" cy="4489236"/>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a:solidFill>
                  <a:schemeClr val="tx1">
                    <a:lumMod val="50000"/>
                  </a:schemeClr>
                </a:solidFill>
              </a:rPr>
              <a:t>Key Insight:</a:t>
            </a:r>
            <a:endParaRPr lang="en-US" sz="1600" dirty="0">
              <a:solidFill>
                <a:schemeClr val="tx1">
                  <a:lumMod val="50000"/>
                </a:schemeClr>
              </a:solidFill>
            </a:endParaRPr>
          </a:p>
          <a:p>
            <a:pPr marL="285750" indent="-285750">
              <a:buFont typeface="Arial" panose="020B0604020202020204" pitchFamily="34" charset="0"/>
              <a:buChar char="•"/>
            </a:pPr>
            <a:r>
              <a:rPr lang="en-US" sz="1600" dirty="0">
                <a:solidFill>
                  <a:schemeClr val="tx1">
                    <a:lumMod val="50000"/>
                  </a:schemeClr>
                </a:solidFill>
              </a:rPr>
              <a:t>Campaign A paired with </a:t>
            </a:r>
            <a:r>
              <a:rPr lang="en-US" sz="1600" b="1" dirty="0">
                <a:solidFill>
                  <a:schemeClr val="tx1">
                    <a:lumMod val="50000"/>
                  </a:schemeClr>
                </a:solidFill>
              </a:rPr>
              <a:t>Email</a:t>
            </a:r>
            <a:r>
              <a:rPr lang="en-US" sz="1600" dirty="0">
                <a:solidFill>
                  <a:schemeClr val="tx1">
                    <a:lumMod val="50000"/>
                  </a:schemeClr>
                </a:solidFill>
              </a:rPr>
              <a:t> consistently delivered the strongest new customer sales.</a:t>
            </a:r>
          </a:p>
          <a:p>
            <a:pPr marL="285750" indent="-285750">
              <a:buFont typeface="Arial" panose="020B0604020202020204" pitchFamily="34" charset="0"/>
              <a:buChar char="•"/>
            </a:pPr>
            <a:r>
              <a:rPr lang="en-US" sz="1600" dirty="0">
                <a:solidFill>
                  <a:schemeClr val="tx1">
                    <a:lumMod val="50000"/>
                  </a:schemeClr>
                </a:solidFill>
              </a:rPr>
              <a:t>Email accounted for </a:t>
            </a:r>
            <a:r>
              <a:rPr lang="en-US" sz="1600" b="1" dirty="0">
                <a:solidFill>
                  <a:schemeClr val="tx1">
                    <a:lumMod val="50000"/>
                  </a:schemeClr>
                </a:solidFill>
              </a:rPr>
              <a:t>60%+ of all new customer sales</a:t>
            </a:r>
            <a:r>
              <a:rPr lang="en-US" sz="1600" dirty="0">
                <a:solidFill>
                  <a:schemeClr val="tx1">
                    <a:lumMod val="50000"/>
                  </a:schemeClr>
                </a:solidFill>
              </a:rPr>
              <a:t>, outperforming Instagram and Web Banner across both campaigns.</a:t>
            </a:r>
          </a:p>
          <a:p>
            <a:pPr marL="285750" indent="-285750">
              <a:buFont typeface="Arial" panose="020B0604020202020204" pitchFamily="34" charset="0"/>
              <a:buChar char="•"/>
            </a:pPr>
            <a:r>
              <a:rPr lang="en-US" sz="1600" dirty="0">
                <a:solidFill>
                  <a:schemeClr val="tx1">
                    <a:lumMod val="50000"/>
                  </a:schemeClr>
                </a:solidFill>
              </a:rPr>
              <a:t>Campaign B drove higher overall sales, but Campaign A resonated more with </a:t>
            </a:r>
            <a:r>
              <a:rPr lang="en-US" sz="1600" b="1" dirty="0">
                <a:solidFill>
                  <a:schemeClr val="tx1">
                    <a:lumMod val="50000"/>
                  </a:schemeClr>
                </a:solidFill>
              </a:rPr>
              <a:t>first‑time buyers</a:t>
            </a:r>
            <a:r>
              <a:rPr lang="en-US" sz="1600" dirty="0">
                <a:solidFill>
                  <a:schemeClr val="tx1">
                    <a:lumMod val="50000"/>
                  </a:schemeClr>
                </a:solidFill>
              </a:rPr>
              <a:t>, which aligns with the client’s growth objective.</a:t>
            </a:r>
          </a:p>
          <a:p>
            <a:endParaRPr lang="en-US" sz="1600" dirty="0">
              <a:solidFill>
                <a:schemeClr val="tx1">
                  <a:lumMod val="50000"/>
                </a:schemeClr>
              </a:solidFill>
            </a:endParaRPr>
          </a:p>
          <a:p>
            <a:endParaRPr lang="en-US" sz="1600" dirty="0">
              <a:solidFill>
                <a:schemeClr val="tx1">
                  <a:lumMod val="50000"/>
                </a:schemeClr>
              </a:solidFill>
            </a:endParaRPr>
          </a:p>
          <a:p>
            <a:r>
              <a:rPr lang="en-US" sz="1600" b="1" dirty="0">
                <a:solidFill>
                  <a:schemeClr val="tx1">
                    <a:lumMod val="50000"/>
                  </a:schemeClr>
                </a:solidFill>
              </a:rPr>
              <a:t>Recommendation Statement:</a:t>
            </a:r>
            <a:r>
              <a:rPr lang="en-US" sz="1600" dirty="0">
                <a:solidFill>
                  <a:schemeClr val="tx1">
                    <a:lumMod val="50000"/>
                  </a:schemeClr>
                </a:solidFill>
              </a:rPr>
              <a:t> </a:t>
            </a:r>
            <a:r>
              <a:rPr lang="en-US" sz="1600" i="1" dirty="0">
                <a:solidFill>
                  <a:schemeClr val="tx1">
                    <a:lumMod val="50000"/>
                  </a:schemeClr>
                </a:solidFill>
              </a:rPr>
              <a:t>Double down on </a:t>
            </a:r>
            <a:r>
              <a:rPr lang="en-US" sz="1600" b="1" i="1" dirty="0">
                <a:solidFill>
                  <a:schemeClr val="tx1">
                    <a:lumMod val="50000"/>
                  </a:schemeClr>
                </a:solidFill>
              </a:rPr>
              <a:t>Campaign A + Email channel</a:t>
            </a:r>
            <a:r>
              <a:rPr lang="en-US" sz="1600" i="1" dirty="0">
                <a:solidFill>
                  <a:schemeClr val="tx1">
                    <a:lumMod val="50000"/>
                  </a:schemeClr>
                </a:solidFill>
              </a:rPr>
              <a:t> to maximize new customer acquisition.</a:t>
            </a:r>
            <a:endParaRPr lang="en-US" sz="1600" dirty="0">
              <a:solidFill>
                <a:schemeClr val="tx1">
                  <a:lumMod val="50000"/>
                </a:schemeClr>
              </a:solidFill>
            </a:endParaRPr>
          </a:p>
          <a:p>
            <a:endParaRPr lang="en-US" sz="1600" b="1" dirty="0">
              <a:solidFill>
                <a:schemeClr val="tx1">
                  <a:lumMod val="50000"/>
                </a:schemeClr>
              </a:solidFill>
            </a:endParaRPr>
          </a:p>
          <a:p>
            <a:endParaRPr lang="en-US" sz="1600" b="1" dirty="0">
              <a:solidFill>
                <a:schemeClr val="tx1">
                  <a:lumMod val="50000"/>
                </a:schemeClr>
              </a:solidFill>
            </a:endParaRPr>
          </a:p>
          <a:p>
            <a:r>
              <a:rPr lang="en-US" sz="1600" b="1" dirty="0">
                <a:solidFill>
                  <a:schemeClr val="tx1">
                    <a:lumMod val="50000"/>
                  </a:schemeClr>
                </a:solidFill>
              </a:rPr>
              <a:t>Supporting Points:</a:t>
            </a:r>
            <a:endParaRPr lang="en-US" sz="1600" dirty="0">
              <a:solidFill>
                <a:schemeClr val="tx1">
                  <a:lumMod val="50000"/>
                </a:schemeClr>
              </a:solidFill>
            </a:endParaRPr>
          </a:p>
          <a:p>
            <a:pPr marL="285750" indent="-285750">
              <a:buFont typeface="Arial" panose="020B0604020202020204" pitchFamily="34" charset="0"/>
              <a:buChar char="•"/>
            </a:pPr>
            <a:r>
              <a:rPr lang="en-US" sz="1600" dirty="0">
                <a:solidFill>
                  <a:schemeClr val="tx1">
                    <a:lumMod val="50000"/>
                  </a:schemeClr>
                </a:solidFill>
              </a:rPr>
              <a:t>Email is the most effective channel for conversions and revenue.</a:t>
            </a:r>
          </a:p>
          <a:p>
            <a:pPr marL="285750" indent="-285750">
              <a:buFont typeface="Arial" panose="020B0604020202020204" pitchFamily="34" charset="0"/>
              <a:buChar char="•"/>
            </a:pPr>
            <a:r>
              <a:rPr lang="en-US" sz="1600" dirty="0">
                <a:solidFill>
                  <a:schemeClr val="tx1">
                    <a:lumMod val="50000"/>
                  </a:schemeClr>
                </a:solidFill>
              </a:rPr>
              <a:t>Campaign A’s tone connects better with new customers, driving higher acquisition.</a:t>
            </a:r>
          </a:p>
          <a:p>
            <a:pPr marL="285750" indent="-285750">
              <a:buFont typeface="Arial" panose="020B0604020202020204" pitchFamily="34" charset="0"/>
              <a:buChar char="•"/>
            </a:pPr>
            <a:r>
              <a:rPr lang="en-US" sz="1600" dirty="0">
                <a:solidFill>
                  <a:schemeClr val="tx1">
                    <a:lumMod val="50000"/>
                  </a:schemeClr>
                </a:solidFill>
              </a:rPr>
              <a:t>Combining these strengths ensures sustainable growth and stronger ROI.</a:t>
            </a:r>
            <a:endParaRPr lang="en-US" sz="1600" dirty="0">
              <a:solidFill>
                <a:schemeClr val="tx1">
                  <a:lumMod val="50000"/>
                </a:schemeClr>
              </a:solidFill>
              <a:effectLst/>
            </a:endParaRPr>
          </a:p>
        </p:txBody>
      </p:sp>
      <p:graphicFrame>
        <p:nvGraphicFramePr>
          <p:cNvPr id="17" name="Object 16" hidden="1">
            <a:extLst>
              <a:ext uri="{FF2B5EF4-FFF2-40B4-BE49-F238E27FC236}">
                <a16:creationId xmlns:a16="http://schemas.microsoft.com/office/drawing/2014/main" id="{870A2A3F-DA9E-7621-F239-197CD76E84FB}"/>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2DEE5C61-ADDE-AC14-BBEB-4CF213BB057D}"/>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34507092-CB3F-044E-7E70-167913ACFEFC}"/>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 name="Rectangle 4">
            <a:extLst>
              <a:ext uri="{FF2B5EF4-FFF2-40B4-BE49-F238E27FC236}">
                <a16:creationId xmlns:a16="http://schemas.microsoft.com/office/drawing/2014/main" id="{6601FC5C-9424-24DF-612B-5F53300A68EF}"/>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DE169BF8-A459-BA19-A0F8-D78E57FC181E}"/>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Tree>
    <p:extLst>
      <p:ext uri="{BB962C8B-B14F-4D97-AF65-F5344CB8AC3E}">
        <p14:creationId xmlns:p14="http://schemas.microsoft.com/office/powerpoint/2010/main" val="428131801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2.xml><?xml version="1.0" encoding="utf-8"?>
<ds:datastoreItem xmlns:ds="http://schemas.openxmlformats.org/officeDocument/2006/customXml" ds:itemID="{F0D9CDD6-302A-4910-894A-79BA7510E5E5}">
  <ds:schemaRefs>
    <ds:schemaRef ds:uri="http://schemas.microsoft.com/sharepoint/v3/contenttype/forms"/>
  </ds:schemaRefs>
</ds:datastoreItem>
</file>

<file path=customXml/itemProps3.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BCG Grid 16:9</Template>
  <TotalTime>341</TotalTime>
  <Words>396</Words>
  <Application>Microsoft Office PowerPoint</Application>
  <PresentationFormat>Widescreen</PresentationFormat>
  <Paragraphs>46</Paragraphs>
  <Slides>6</Slides>
  <Notes>0</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6</vt:i4>
      </vt:variant>
      <vt:variant>
        <vt:lpstr>Custom Shows</vt:lpstr>
      </vt:variant>
      <vt:variant>
        <vt:i4>1</vt:i4>
      </vt:variant>
    </vt:vector>
  </HeadingPairs>
  <TitlesOfParts>
    <vt:vector size="11" baseType="lpstr">
      <vt:lpstr>Arial</vt:lpstr>
      <vt:lpstr>Trebuchet MS</vt:lpstr>
      <vt:lpstr>BCG Grid 16:9</vt:lpstr>
      <vt:lpstr>think-cell Slide</vt:lpstr>
      <vt:lpstr>Campaign Performance Analysis – NewCo Marketing Case Study </vt:lpstr>
      <vt:lpstr>Pivot Table</vt:lpstr>
      <vt:lpstr>Stacked Bar Chat</vt:lpstr>
      <vt:lpstr>Pie Chart</vt:lpstr>
      <vt:lpstr>Horizontal Bar Chat</vt:lpstr>
      <vt:lpstr>Recommendation – Grow New Customer Sales</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Goitsemang Baloyi</cp:lastModifiedBy>
  <cp:revision>11</cp:revision>
  <cp:lastPrinted>2016-04-06T18:59:25Z</cp:lastPrinted>
  <dcterms:created xsi:type="dcterms:W3CDTF">2025-04-28T17:07:03Z</dcterms:created>
  <dcterms:modified xsi:type="dcterms:W3CDTF">2026-02-25T15:35:39Z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